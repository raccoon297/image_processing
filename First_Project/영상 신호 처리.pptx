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3" r:id="rId11"/>
    <p:sldId id="266" r:id="rId12"/>
    <p:sldId id="267" r:id="rId13"/>
    <p:sldId id="269" r:id="rId14"/>
    <p:sldId id="271" r:id="rId15"/>
    <p:sldId id="272" r:id="rId16"/>
    <p:sldId id="273" r:id="rId17"/>
    <p:sldId id="274" r:id="rId18"/>
    <p:sldId id="280" r:id="rId19"/>
    <p:sldId id="275" r:id="rId20"/>
    <p:sldId id="276" r:id="rId21"/>
    <p:sldId id="281" r:id="rId22"/>
    <p:sldId id="277" r:id="rId23"/>
    <p:sldId id="278" r:id="rId24"/>
    <p:sldId id="279" r:id="rId25"/>
    <p:sldId id="283" r:id="rId26"/>
    <p:sldId id="282" r:id="rId27"/>
    <p:sldId id="284" r:id="rId28"/>
    <p:sldId id="288" r:id="rId29"/>
    <p:sldId id="290" r:id="rId30"/>
    <p:sldId id="295" r:id="rId31"/>
    <p:sldId id="291" r:id="rId32"/>
    <p:sldId id="292" r:id="rId33"/>
    <p:sldId id="293" r:id="rId34"/>
    <p:sldId id="294" r:id="rId35"/>
    <p:sldId id="299" r:id="rId36"/>
    <p:sldId id="296" r:id="rId37"/>
    <p:sldId id="297" r:id="rId38"/>
    <p:sldId id="298" r:id="rId39"/>
    <p:sldId id="300" r:id="rId40"/>
    <p:sldId id="30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54" autoAdjust="0"/>
    <p:restoredTop sz="94303" autoAdjust="0"/>
  </p:normalViewPr>
  <p:slideViewPr>
    <p:cSldViewPr snapToGrid="0" showGuides="1">
      <p:cViewPr varScale="1">
        <p:scale>
          <a:sx n="104" d="100"/>
          <a:sy n="104" d="100"/>
        </p:scale>
        <p:origin x="64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847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40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133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394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933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986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053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545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55028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761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439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440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sldNum="0" hdr="0" ftr="0" dt="0"/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A56D5-7B8F-F1AE-BA6C-D00C7A01A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영상 신호 처리 </a:t>
            </a:r>
            <a:br>
              <a:rPr lang="en-US" altLang="ko-KR" dirty="0"/>
            </a:br>
            <a:r>
              <a:rPr lang="ko-KR" altLang="en-US" dirty="0"/>
              <a:t>중간 대체 </a:t>
            </a:r>
            <a:r>
              <a:rPr lang="ko-KR" altLang="en-US" dirty="0" err="1"/>
              <a:t>레포트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826F2D-09CF-EA3C-EB48-CAF9B16B2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101589"/>
            <a:ext cx="4876800" cy="597248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전자융합공학과 </a:t>
            </a:r>
            <a:r>
              <a:rPr lang="en-US" altLang="ko-KR" dirty="0"/>
              <a:t>2021742065 </a:t>
            </a:r>
            <a:r>
              <a:rPr lang="ko-KR" altLang="en-US" dirty="0"/>
              <a:t>윤동환</a:t>
            </a:r>
          </a:p>
        </p:txBody>
      </p:sp>
    </p:spTree>
    <p:extLst>
      <p:ext uri="{BB962C8B-B14F-4D97-AF65-F5344CB8AC3E}">
        <p14:creationId xmlns:p14="http://schemas.microsoft.com/office/powerpoint/2010/main" val="107785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CCB31-3A59-9DB2-5124-4B80EC44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6204"/>
            <a:ext cx="1306945" cy="607291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46315-B3D6-5194-E6A0-B4647AD1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820" y="1136069"/>
            <a:ext cx="5652000" cy="5726538"/>
          </a:xfrm>
        </p:spPr>
        <p:txBody>
          <a:bodyPr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HDR (High Dynamic Range)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1-1.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Basic Concept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1-2.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Algorithm Implementation and 		    Analysis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1-3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Results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</a:t>
            </a:r>
            <a:r>
              <a:rPr lang="ko-KR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(Histogram Equalization)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2-1.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Basic Concept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2-2.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Algorithm Implementation and 		    Analysis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2-3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Results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CLAHE (Contrast Limited Adaptive Histogram Equalization)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3-1.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Basic Concept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3-2.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Algorithm Implementation and 		    Analysis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3-3.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Results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endParaRPr lang="ko-KR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FC332F9-443E-EB9B-60DC-DE0B6BA48EEF}"/>
              </a:ext>
            </a:extLst>
          </p:cNvPr>
          <p:cNvSpPr txBox="1">
            <a:spLocks/>
          </p:cNvSpPr>
          <p:nvPr/>
        </p:nvSpPr>
        <p:spPr>
          <a:xfrm>
            <a:off x="6367820" y="1136069"/>
            <a:ext cx="5652000" cy="5721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종합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Comparative Analysis and Discussion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4-1.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기법별 비교 테이블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(Performance Comparison Table)</a:t>
            </a:r>
          </a:p>
          <a:p>
            <a:pPr marL="0" indent="0">
              <a:buNone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고찰 및 구현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(Additional Discussion &amp; Implementation</a:t>
            </a: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5-1.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다중 노출 기반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HDR</a:t>
            </a: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5-2. Color Histogram Equalization</a:t>
            </a: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5-3. Color CLAHE</a:t>
            </a:r>
          </a:p>
          <a:p>
            <a:pPr marL="0" indent="0">
              <a:buNone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결론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(Conclusion)</a:t>
            </a:r>
          </a:p>
          <a:p>
            <a:pPr marL="0" indent="0">
              <a:buNone/>
            </a:pP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05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E254E-0BAB-273C-A80C-F3E6C786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000" y="2889000"/>
            <a:ext cx="6480000" cy="1080000"/>
          </a:xfrm>
        </p:spPr>
        <p:txBody>
          <a:bodyPr>
            <a:normAutofit fontScale="90000"/>
          </a:bodyPr>
          <a:lstStyle/>
          <a:p>
            <a:br>
              <a:rPr lang="ko-KR" altLang="ko-KR" dirty="0"/>
            </a:br>
            <a:r>
              <a:rPr lang="en-US" altLang="ko-KR" sz="4900" dirty="0"/>
              <a:t>1. HDR </a:t>
            </a:r>
            <a:br>
              <a:rPr lang="en-US" altLang="ko-KR" sz="4900" dirty="0"/>
            </a:br>
            <a:r>
              <a:rPr lang="en-US" altLang="ko-KR" sz="2700" dirty="0"/>
              <a:t>(High Dynamic Range)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388893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CE6DA-0289-39E2-D870-81BD7BDD8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5" y="203358"/>
            <a:ext cx="2572327" cy="477983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9DF9F7-2266-AC53-ECD5-CEDE3B904E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61636"/>
                <a:ext cx="9601200" cy="14773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Dynamic Range</a:t>
                </a:r>
                <a:r>
                  <a:rPr lang="ko-KR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시스템이 감지하거나 표현할 수 있는 가장 밝은 부분</a:t>
                </a:r>
                <a:r>
                  <a:rPr lang="en-US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최대 신호</a:t>
                </a:r>
                <a:r>
                  <a:rPr lang="en-US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 가장 어두운 부분</a:t>
                </a:r>
                <a:r>
                  <a:rPr lang="en-US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최소 신호</a:t>
                </a:r>
                <a:r>
                  <a:rPr lang="en-US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사이의 비율을 의미하고 다음과 같이 정의한다</a:t>
                </a:r>
                <a:r>
                  <a:rPr lang="en-US" altLang="ko-KR" sz="1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endParaRPr lang="ko-KR" altLang="ko-KR" sz="18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ko-KR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ko-KR" sz="18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indent="0">
                  <a:buNone/>
                </a:pPr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9DF9F7-2266-AC53-ECD5-CEDE3B904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61636"/>
                <a:ext cx="9601200" cy="1477328"/>
              </a:xfrm>
              <a:blipFill>
                <a:blip r:embed="rId2"/>
                <a:stretch>
                  <a:fillRect l="-508" t="-24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97673F6-D526-B4EE-0944-25EB0B82EE6B}"/>
              </a:ext>
            </a:extLst>
          </p:cNvPr>
          <p:cNvSpPr txBox="1"/>
          <p:nvPr/>
        </p:nvSpPr>
        <p:spPr>
          <a:xfrm>
            <a:off x="1371600" y="3138964"/>
            <a:ext cx="89014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인간의 눈은 약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20~24 stops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수준의 매우 넓은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Dynamic Range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가지고 있지만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일반적인 카메라는 약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10~12 stops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Dynamic Range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가진다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따라서 일반적인 카메라 센서는 한 번의 촬영으로 아주 밝은 영역과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아주 어두운 영역의 디테일을 동시에 담아내는 데 한계가 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EF9EC-6FB3-0B31-16E4-0E636DB90211}"/>
              </a:ext>
            </a:extLst>
          </p:cNvPr>
          <p:cNvSpPr txBox="1"/>
          <p:nvPr/>
        </p:nvSpPr>
        <p:spPr>
          <a:xfrm>
            <a:off x="1371600" y="4616292"/>
            <a:ext cx="10301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HDR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기술은 서로 다른 노출 시간으로 촬영된 여러 장의 이미지를 합성하여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내의 가장 밝은 곳부터 가장 어두운 곳까지의 디테일을 모두 살려내는 영상 처리 기법이다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028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EF9EC-6FB3-0B31-16E4-0E636DB90211}"/>
                  </a:ext>
                </a:extLst>
              </p:cNvPr>
              <p:cNvSpPr txBox="1"/>
              <p:nvPr/>
            </p:nvSpPr>
            <p:spPr>
              <a:xfrm>
                <a:off x="1129256" y="3819723"/>
                <a:ext cx="10046567" cy="2742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핵심원리</a:t>
                </a:r>
              </a:p>
              <a:p>
                <a:pPr marL="342900" indent="-342900" latinLnBrk="1">
                  <a:buAutoNum type="arabicParenR"/>
                </a:pP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가상 노출 이미지 생성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(Gamma Correction):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원본 이미지에 서로 다른 감마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값을 적용하여 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                                           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가상의 다중 노출 이미지를 생성한다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endParaRPr lang="ko-KR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(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밝기 증가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어두운 영역의 디테일을 살린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Over-exposed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이미지를 시뮬레이션 </a:t>
                </a:r>
              </a:p>
              <a:p>
                <a:pPr latinLnBrk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(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밝기 감소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밝은 영역의 디테일을 살린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Under-exposed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이미지를 시뮬레이션 </a:t>
                </a:r>
              </a:p>
              <a:p>
                <a:pPr latinLnBrk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=255×</m:t>
                    </m:r>
                    <m:sSup>
                      <m:sSupPr>
                        <m:ctrlPr>
                          <a:rPr lang="ko-KR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ko-KR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ko-KR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255</m:t>
                                </m:r>
                              </m:den>
                            </m:f>
                          </m:e>
                        </m:d>
                      </m:e>
                      <m:sup>
                        <m:d>
                          <m:dPr>
                            <m:ctrlPr>
                              <a:rPr lang="ko-KR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1/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----------(1)</a:t>
                </a:r>
              </a:p>
              <a:p>
                <a:pPr latinLnBrk="1"/>
                <a:endParaRPr lang="ko-KR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2)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 융합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생성된 가상 이미지들을 하나로 합치기 위해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Mertens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의 노출 융합 알고리즘을 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사용한다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 방식은 각 픽셀에서 대비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채도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 지표를 계산하여 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가장 정보량이 풍부한 픽셀에 높은 가중치를 두어 </a:t>
                </a:r>
                <a:r>
                  <a:rPr lang="ko-KR" altLang="ko-KR" sz="16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블렌딩한다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EF9EC-6FB3-0B31-16E4-0E636DB90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256" y="3819723"/>
                <a:ext cx="10046567" cy="2742802"/>
              </a:xfrm>
              <a:prstGeom prst="rect">
                <a:avLst/>
              </a:prstGeom>
              <a:blipFill>
                <a:blip r:embed="rId2"/>
                <a:stretch>
                  <a:fillRect l="-425" t="-667" b="-1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470A309-0ACF-9037-80AC-3882E4EB7C03}"/>
              </a:ext>
            </a:extLst>
          </p:cNvPr>
          <p:cNvSpPr txBox="1"/>
          <p:nvPr/>
        </p:nvSpPr>
        <p:spPr>
          <a:xfrm>
            <a:off x="1129256" y="404938"/>
            <a:ext cx="10924199" cy="331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전통적인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HDR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방식은 노출이 다른 여러 장의 사진을 합성하여 디테일을 살리지만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정적인 피사체가 아닐 경우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 구도 확보의 어려움과 물체의 잔상을 제거해야 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손떨림으로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인해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장의 사진의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정렬이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어긋난 경우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픽셀마다의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비교를 통해 정렬해야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하는 등의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연산자원 소모가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이러한 단점들을 보완하기 위해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프로젝트에서는 동일한 사진 한장만을 사용하는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Pseudo-HDR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기법을 사용하였다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Pseudo-HDR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한 장의 사진을 감마 보정을 통해 가상으로 다중 노출 이미지를 생성하고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블렌딩하여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밝은 곳과 어두운 곳의 디테일을 극대화하는 방식이다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기법은 연산 효율성과 실시간성이 매우 뛰어나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복잡한 계산 없이도 정교한 디테일 확보가 필수적인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드론이나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자율주행 자동차의 비전 시스템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최적화된 기술로 활용되고 있다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578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9A18306-306A-2091-7252-3104CFD51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5292221" cy="5181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972E57-2E0F-0D52-ABB0-6EEC4FB8383A}"/>
              </a:ext>
            </a:extLst>
          </p:cNvPr>
          <p:cNvSpPr txBox="1"/>
          <p:nvPr/>
        </p:nvSpPr>
        <p:spPr>
          <a:xfrm>
            <a:off x="994055" y="0"/>
            <a:ext cx="33041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CAAF2-B277-EB4D-281A-BE2BF53072CA}"/>
                  </a:ext>
                </a:extLst>
              </p:cNvPr>
              <p:cNvSpPr txBox="1"/>
              <p:nvPr/>
            </p:nvSpPr>
            <p:spPr>
              <a:xfrm>
                <a:off x="5756636" y="539114"/>
                <a:ext cx="6435364" cy="6324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Python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OpenCV 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라이브러리를 활용하였으며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</a:p>
              <a:p>
                <a:pPr latinLnBrk="1"/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세 단계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15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전처리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- 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가상 노출 생성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- 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융합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구성된다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latinLnBrk="1"/>
                <a:endParaRPr lang="ko-KR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342900" indent="-342900" latinLnBrk="1">
                  <a:buAutoNum type="arabicParenBoth"/>
                </a:pPr>
                <a:r>
                  <a:rPr lang="ko-KR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감마 보정을 통한 가상 노출 생성</a:t>
                </a:r>
                <a:endParaRPr lang="en-US" altLang="ko-KR" sz="15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endParaRPr lang="ko-KR" altLang="ko-KR" sz="15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def </a:t>
                </a:r>
                <a:r>
                  <a:rPr lang="en-US" altLang="ko-KR" sz="15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adjust_gamma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(image, gamma=1.0): </a:t>
                </a:r>
              </a:p>
              <a:p>
                <a:pPr latinLnBrk="1"/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원본 이미지와 </a:t>
                </a:r>
                <a:r>
                  <a:rPr lang="ko-KR" altLang="ko-KR" sz="15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감마값을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입력으로 받아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감마보정을 수행하는 함수이다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LUT (Look-Up Table) 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활용하여 픽셀 하나하나마다 </a:t>
                </a:r>
                <a:r>
                  <a:rPr lang="ko-KR" altLang="ko-KR" sz="15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감마제곱을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endPara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수행하는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것에 대한 </a:t>
                </a:r>
                <a:r>
                  <a:rPr lang="ko-KR" altLang="ko-KR" sz="15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연산량을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줄이고 최적화하였다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이때 사용한 감마 보정 수식은 수식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(1)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 같다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latinLnBrk="1"/>
                <a:endParaRPr lang="ko-KR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img_underexposed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= </a:t>
                </a:r>
                <a:r>
                  <a:rPr lang="en-US" altLang="ko-KR" sz="15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adjust_gamma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15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img_rgb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gamma=0.4), </a:t>
                </a:r>
                <a:endParaRPr lang="ko-KR" altLang="ko-KR" sz="15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img_overexposed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= </a:t>
                </a:r>
                <a:r>
                  <a:rPr lang="en-US" altLang="ko-KR" sz="15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adjust_gamma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15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img_rgb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gamma=2.2): </a:t>
                </a:r>
              </a:p>
              <a:p>
                <a:pPr latinLnBrk="1"/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감마 보정 함수를 활용하여 서로 다른 </a:t>
                </a:r>
                <a:r>
                  <a:rPr lang="ko-KR" altLang="ko-KR" sz="15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노출값을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가진 사진을 만들어낸다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endParaRPr lang="ko-KR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gamma = 0.4 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어두운 이미지 생성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감마 값이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1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보다 작으면 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(1/</a:t>
                </a:r>
                <a14:m>
                  <m:oMath xmlns:m="http://schemas.openxmlformats.org/officeDocument/2006/math">
                    <m:r>
                      <a:rPr lang="en-US" altLang="ko-KR" sz="15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1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보다 커져 커브가 </a:t>
                </a:r>
                <a:endPara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아래로 </a:t>
                </a:r>
                <a:r>
                  <a:rPr lang="ko-KR" altLang="ko-KR" sz="15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오목해지며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영상이 어두워진다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이를 통해 노출 시간을 짧게 가져갔을 때와 같이 </a:t>
                </a:r>
                <a:endPara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밝은 부분의 디테일을 확보할 수 있다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latinLnBrk="1"/>
                <a:endParaRPr lang="ko-KR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</a:t>
                </a:r>
                <a:r>
                  <a:rPr lang="en-US" altLang="ko-KR" sz="15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gamma = 2.2 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밝은 이미지 생성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감마 값이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1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보다 크면 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(1/</a:t>
                </a:r>
                <a14:m>
                  <m:oMath xmlns:m="http://schemas.openxmlformats.org/officeDocument/2006/math">
                    <m:r>
                      <a:rPr lang="en-US" altLang="ko-KR" sz="15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1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보다 작아져 커브가 </a:t>
                </a:r>
                <a:endPara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위로 볼록해지며 전체적인 밝기가 상승한다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이를 통해 노출 시간을 길게 가져갔을 때와 같이 </a:t>
                </a:r>
                <a:endPara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		</a:t>
                </a:r>
                <a:r>
                  <a:rPr lang="ko-KR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어두운 부분의 디테일을 확보할 수 있다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endParaRPr lang="ko-KR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ko-KR" altLang="en-US" sz="1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CAAF2-B277-EB4D-281A-BE2BF5307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636" y="539114"/>
                <a:ext cx="6435364" cy="6324808"/>
              </a:xfrm>
              <a:prstGeom prst="rect">
                <a:avLst/>
              </a:prstGeom>
              <a:blipFill>
                <a:blip r:embed="rId3"/>
                <a:stretch>
                  <a:fillRect l="-568" t="-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794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F1F3CD2-8185-546C-AD29-DD0227E99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" y="685800"/>
            <a:ext cx="4469540" cy="518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737E8A-25E5-334E-D9EB-959D2C3C0403}"/>
              </a:ext>
            </a:extLst>
          </p:cNvPr>
          <p:cNvSpPr txBox="1"/>
          <p:nvPr/>
        </p:nvSpPr>
        <p:spPr>
          <a:xfrm>
            <a:off x="5773203" y="696754"/>
            <a:ext cx="641879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Mertens Fusion </a:t>
            </a:r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적용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merge_mertens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cv2.createMergeMertens()</a:t>
            </a:r>
            <a:endParaRPr lang="ko-KR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exposure_images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[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img_underexposed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img_rgb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img_overexposed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]: </a:t>
            </a: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장의 사진을 하나의 리스트로 묶어서 </a:t>
            </a:r>
            <a:r>
              <a:rPr lang="ko-KR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블렌딩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함수에 들어갈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hdr_mertens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merge_mertens.process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exposure_images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내부의 </a:t>
            </a:r>
            <a:r>
              <a:rPr lang="ko-KR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블렌딩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함수로 입력된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장의 영상에서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대비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채도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노출을 고려하여 픽셀별 가중치 지도를 생성한다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이후 해당 가중치를 바탕으로 </a:t>
            </a:r>
            <a:r>
              <a:rPr lang="ko-KR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블렌딩한다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hdr_8bit = 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np.clip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hdr_mertens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* 255, 0, 255).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astype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('uint8’): </a:t>
            </a: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process()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함수의 결과물은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0.0~1.0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사이의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Floating Point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데이터이다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따라서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np.clip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astype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('uint8')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과정을 통해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다시 시각화 가능한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8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 이미지로 변환해 주었다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시각화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plt.figure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figsize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=(10, 8)) ~ 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plt.show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(): </a:t>
            </a: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matplotlib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라이브러리를 이용하여 </a:t>
            </a:r>
            <a:r>
              <a:rPr lang="ko-KR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시각화한다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2854BE-18C6-33B3-053A-D9A535F817E1}"/>
              </a:ext>
            </a:extLst>
          </p:cNvPr>
          <p:cNvSpPr txBox="1"/>
          <p:nvPr/>
        </p:nvSpPr>
        <p:spPr>
          <a:xfrm>
            <a:off x="994055" y="0"/>
            <a:ext cx="33041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</a:t>
            </a:r>
          </a:p>
        </p:txBody>
      </p:sp>
    </p:spTree>
    <p:extLst>
      <p:ext uri="{BB962C8B-B14F-4D97-AF65-F5344CB8AC3E}">
        <p14:creationId xmlns:p14="http://schemas.microsoft.com/office/powerpoint/2010/main" val="389147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9694E3C-D641-B3D3-AC18-800354F2C743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EE574A-4A78-5D69-7F71-BC136BD80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5" y="685799"/>
            <a:ext cx="7715250" cy="617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0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9694E3C-D641-B3D3-AC18-800354F2C743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78E7F5-785C-A55E-934A-0C9E2F2DC493}"/>
              </a:ext>
            </a:extLst>
          </p:cNvPr>
          <p:cNvSpPr txBox="1"/>
          <p:nvPr/>
        </p:nvSpPr>
        <p:spPr>
          <a:xfrm>
            <a:off x="5829923" y="1520786"/>
            <a:ext cx="544767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buAutoNum type="arabicParenBoth"/>
            </a:pP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 노출 이미지 분석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Under-exposed (Gamma 0.4):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감마 보정을 통해 전체적인 밝기를 낮춘 결과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아치 너머 밝은 실외 거리의 하늘과 건물 벽면의 색감이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포화되지 않고 뚜렷하게 보존되었다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실내의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부분은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정보가 거의 사라진 것을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볼 수 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Over-exposed (Gamma 2.2):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밝기를 강제로 높여 원본 이미지에서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어둡게 뭉쳐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있던 좌측 벽면의 벽돌 질감과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자전거의 형태가 명확하게 드러났다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하지만 외부 전경은 과다 노출로 인해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디테일이 하얗게 날아갔다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4261B7-AAB4-6E2C-9DA1-ED91C963A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34" y="685800"/>
            <a:ext cx="4680000" cy="29662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2B8DA4-18BE-F1DB-1241-4E8CE18E6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4" y="3652078"/>
            <a:ext cx="4680000" cy="295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77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9694E3C-D641-B3D3-AC18-800354F2C743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E11894-D29C-C07A-BFF0-418657EA17F1}"/>
              </a:ext>
            </a:extLst>
          </p:cNvPr>
          <p:cNvSpPr txBox="1"/>
          <p:nvPr/>
        </p:nvSpPr>
        <p:spPr>
          <a:xfrm>
            <a:off x="5802217" y="1166843"/>
            <a:ext cx="60228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HDR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결과 분석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부분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디테일 복원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원본과 비교했을 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좌측 하단의 화분과 자전거가 놓인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 영역의 가시성이 크게 향상되었다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Over-exposed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이미지의 정보를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효과적으로 가져온 결과이다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밝은 부분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보존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실내 디테일을 살리면서도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아치 밖의 밝은 풍경이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화이트아웃 되지 않고 자연스럽게 유지되었다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Under-exposed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이미지에서 추출한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밝은 부분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대비 정보를 융합했기 때문이다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Mertens Fusion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알고리즘이 픽셀별로 가장 잘 노출된 정보를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선택적으로 결합함으로써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단일 영상임에도 불구하고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넓은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Dynamic Range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한 장의 사진에 성공적으로 구현하였다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0C096D1-B20E-3C02-1894-217CF1C11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55" y="686142"/>
            <a:ext cx="4680000" cy="28947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4A44B5C-D60F-8005-FE75-E80F06570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5" y="3580923"/>
            <a:ext cx="4680000" cy="292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0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E254E-0BAB-273C-A80C-F3E6C786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000" y="2889000"/>
            <a:ext cx="6480000" cy="1080000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2. </a:t>
            </a:r>
            <a:r>
              <a:rPr lang="ko-KR" altLang="ko-KR" sz="4400" dirty="0"/>
              <a:t>히스토그램 </a:t>
            </a:r>
            <a:r>
              <a:rPr lang="ko-KR" altLang="ko-KR" sz="4400" dirty="0" err="1"/>
              <a:t>평활화</a:t>
            </a:r>
            <a:r>
              <a:rPr lang="en-US" altLang="ko-KR" sz="4400" dirty="0"/>
              <a:t> </a:t>
            </a:r>
            <a:br>
              <a:rPr lang="en-US" altLang="ko-KR" sz="4400" dirty="0"/>
            </a:br>
            <a:r>
              <a:rPr lang="en-US" altLang="ko-KR" sz="2400" dirty="0"/>
              <a:t>(Histogram Equalization)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83936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140B-C177-C984-9035-8013E27D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E0ABA-8362-75C4-8E0B-6F79CB47A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5" y="203358"/>
            <a:ext cx="2572327" cy="477983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2-1.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7D0568-4FC3-3E29-4DF1-859BE2BF81A6}"/>
                  </a:ext>
                </a:extLst>
              </p:cNvPr>
              <p:cNvSpPr txBox="1"/>
              <p:nvPr/>
            </p:nvSpPr>
            <p:spPr>
              <a:xfrm>
                <a:off x="1390072" y="1202023"/>
                <a:ext cx="9582728" cy="5544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히스토그램 평활화는 영상의 밝기 히스토그램을 분석하여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특정 영역에 집중되어 있는 픽셀 빈도를 전체 영역으로 골고루 분산시키는 기법이다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이를 통해 영상의 대비를 대폭 개선하여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너무 어둡거나 밝아서 구분이 힘든 영상의 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가시성을 높이는 데 목적이 있다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latinLnBrk="1"/>
                <a:endParaRPr lang="ko-KR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히스토그램 평활화의 핵심인 변환 함수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T(r)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은 입력 영상의 밝기 값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r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새로운 밝기 값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s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매핑하는 함수로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CDF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사용하였다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수학적으로 특정 확률 분포를 가진 변수를 자신의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CDF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통해 변환하면 결과값은 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균일한 분포를 갖게 된다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atinLnBrk="1"/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따라서 뭉쳐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있던 히스토그램이 넓게 펴지면서 대비가 최대로 확장된다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latinLnBrk="1"/>
                <a:endParaRPr lang="ko-KR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 latinLnBrk="1"/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CDF (Cumulative Distribution Function): PDF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누적하여 합한 값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  <a:endParaRPr lang="ko-KR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i="1" dirty="0"/>
              </a:p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밝기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ko-KR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인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픽셀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𝑀𝑁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전체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픽셀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ko-KR" i="1">
                              <a:latin typeface="Cambria Math" panose="02040503050406030204" pitchFamily="18" charset="0"/>
                            </a:rPr>
                            <m:t>수</m:t>
                          </m:r>
                        </m:e>
                      </m:d>
                    </m:oMath>
                  </m:oMathPara>
                </a14:m>
                <a:endParaRPr lang="ko-KR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7D0568-4FC3-3E29-4DF1-859BE2BF8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072" y="1202023"/>
                <a:ext cx="9582728" cy="5544979"/>
              </a:xfrm>
              <a:prstGeom prst="rect">
                <a:avLst/>
              </a:prstGeom>
              <a:blipFill>
                <a:blip r:embed="rId2"/>
                <a:stretch>
                  <a:fillRect l="-509" t="-5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642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EA65-FF69-1C73-C307-CDFCF85C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E7F12C-92F1-9CD6-5D95-E7C64C7F6AC0}"/>
              </a:ext>
            </a:extLst>
          </p:cNvPr>
          <p:cNvSpPr txBox="1"/>
          <p:nvPr/>
        </p:nvSpPr>
        <p:spPr>
          <a:xfrm>
            <a:off x="994055" y="0"/>
            <a:ext cx="33041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2E595-B2AB-5589-57E7-41A4ED0A93DC}"/>
              </a:ext>
            </a:extLst>
          </p:cNvPr>
          <p:cNvSpPr txBox="1"/>
          <p:nvPr/>
        </p:nvSpPr>
        <p:spPr>
          <a:xfrm>
            <a:off x="5756636" y="517803"/>
            <a:ext cx="6435364" cy="656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buAutoNum type="arabicParenBoth"/>
            </a:pPr>
            <a:r>
              <a:rPr lang="ko-KR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데이터 </a:t>
            </a:r>
            <a:r>
              <a:rPr lang="ko-KR" altLang="ko-KR" sz="14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endParaRPr lang="en-US" altLang="ko-KR" sz="14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latinLnBrk="1"/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img_gray</a:t>
            </a:r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cv2.imread(</a:t>
            </a:r>
            <a:r>
              <a:rPr lang="en-US" altLang="ko-KR" sz="14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image_path</a:t>
            </a:r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cv2.IMREAD_GRAYSCALE): 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cv2.equalizeHist()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함수는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8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 단일 채널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이미지만을 입력으로 받는다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따라서 컬러 영상을 직접 넣지 않고 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cv2.IMREAD_GRAYSCALE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통해 </a:t>
            </a:r>
            <a:endParaRPr lang="en-US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그레이스케일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이미지로 변환하였다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핵심 알고리즘</a:t>
            </a:r>
            <a:endParaRPr lang="en-US" altLang="ko-KR" sz="14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img_he</a:t>
            </a:r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cv2.equalizeHist(</a:t>
            </a:r>
            <a:r>
              <a:rPr lang="en-US" altLang="ko-KR" sz="14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img_gray</a:t>
            </a:r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</a:p>
          <a:p>
            <a:pPr latinLnBrk="1"/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라이브러리에서 호출할 수 있는 히스토그램 </a:t>
            </a:r>
            <a:r>
              <a:rPr lang="ko-KR" altLang="ko-KR" sz="14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함수이다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함수를 실행하면 내부에서는 다음과 같은 일을 수행한다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latinLnBrk="1"/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1)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영상의 히스토그램을 계산하고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PDF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생성한다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latinLnBrk="1"/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2)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(PDF)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누적하여 누적 분포 함수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(CDF)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생성한다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latinLnBrk="1"/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3) CDF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값을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0~255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범위로 </a:t>
            </a:r>
            <a:r>
              <a:rPr lang="ko-KR" altLang="ko-KR" sz="14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정규화하여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픽셀 값을 다시 매핑한다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0" latinLnBrk="1"/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결과적으로 입력 영상에서 빈도수가 높았던 밝기 영역은 넓게 펼쳐지고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빈도수가 낮았던 영역은 압축되어 전체 이미지의 대비가 커지게 된다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en-US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시각화 및 분석 도구</a:t>
            </a:r>
            <a:endParaRPr lang="en-US" altLang="ko-KR" sz="14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img.ravel</a:t>
            </a:r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(): 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차원 행렬 형태인 이미지 데이터를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차원 배열로 펼쳐주는 </a:t>
            </a:r>
            <a:endParaRPr lang="en-US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역할을 한다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히스토그램은 픽셀의 위치 정보 없이 단순히 값의 빈도수만 </a:t>
            </a:r>
            <a:endParaRPr lang="en-US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측정하므로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plt.hist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 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함수에 전달하기 위해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차원 데이터로 변환을 위해 </a:t>
            </a:r>
            <a:endParaRPr lang="en-US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사용하였다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bins=256: 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255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까지의 모든 밝기 단계를 세밀하게 관찰하기 위해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atinLnBrk="1"/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256</a:t>
            </a:r>
            <a:r>
              <a:rPr lang="ko-KR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구간으로 나누어 </a:t>
            </a:r>
            <a:r>
              <a:rPr lang="ko-KR" altLang="ko-KR" sz="14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시각화하였다</a:t>
            </a:r>
            <a:r>
              <a:rPr lang="en-US" altLang="ko-KR" sz="14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en-US" alt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685A3E-7EB1-D716-D616-2058036E1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41" y="685800"/>
            <a:ext cx="4349789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4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C2D4-7564-011A-9E6D-A5F1C3C3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0E79FAB-7F53-0DE6-4F2D-1C7B00C3E89B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160FF5-A0C9-7F24-9331-BE35AA848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766" y="702424"/>
            <a:ext cx="7694468" cy="61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7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8129-71B7-A487-72EC-E305F9E81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1221DBB-7A36-8C06-13B0-9B1C1A8C3705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6B86B-A22D-678D-4539-245E10957A44}"/>
              </a:ext>
            </a:extLst>
          </p:cNvPr>
          <p:cNvSpPr txBox="1"/>
          <p:nvPr/>
        </p:nvSpPr>
        <p:spPr>
          <a:xfrm>
            <a:off x="5580539" y="1028343"/>
            <a:ext cx="62235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buAutoNum type="arabicParenBoth"/>
            </a:pP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결과 분석 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원본의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그레이스케일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이미지에서는 어두워서 식별이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어려웠던 좌측 벽면의 질감과 자전거의 디테일이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결과 이미지에서는 매우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선명하게 나타났다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좁게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뭉쳐있던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어두운 부분의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픽셀값들을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넓게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펼쳐줌으로써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시각적 정보량을 늘렸기 때문이다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하지만 히스토그램 평활화의 특성인 전역 연산의 특성상 부작용도 관찰된다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아치 너머의 밝은 실외 거리 영역을 보면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 충분히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밝았던 부분까지 강제로 더 밝게 변하면서 디테일이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오히려 손실되는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Highlight Clipping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현상이 발생했다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 영역의 대비를 강제로 높이는 과정에서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 부분에 포함되어 있던 미세한 노이즈들이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증폭되어 시각적으로 두드러지는 경향을 보였다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0CF7AB-75BC-2EF1-1933-BD89DD685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77" y="685801"/>
            <a:ext cx="4680000" cy="29920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C84762A-E859-A080-F653-3B641497A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77" y="3677813"/>
            <a:ext cx="4680000" cy="295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62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4B8F-2A4D-89C8-CAED-AFD1B19E1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886CD1C-3B12-F1FE-B2CA-5A78CAD69454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BFBE2-16EC-5DCC-1869-3997A1BA65AA}"/>
              </a:ext>
            </a:extLst>
          </p:cNvPr>
          <p:cNvSpPr txBox="1"/>
          <p:nvPr/>
        </p:nvSpPr>
        <p:spPr>
          <a:xfrm>
            <a:off x="5617485" y="685800"/>
            <a:ext cx="6274475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분석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원본 히스토그램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히스토그램이 주로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0~100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사이의 낮은 밝기 값에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밀집되어 있음을 확인할 수 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이미지의 전체적인 톤이 어둡고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밝기 분포가 좁아 대비가 낮음을 의미한다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이후 히스토그램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영역에 집중되어 있던 히스토그램 빈도가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0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255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 영역에 걸쳐 균일하게 분포되도록 재배치되었다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픽셀 값 사이의 간격이 넓어지면서 수치상의 대비가 최대화되었다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평활화는 별도의 파라미터 설정 없이도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영상의 대비를 획기적으로 개선할 수 있음을 확인하였다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 영상 내에 밝기 차이가 극심한 경우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밝은 영역의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과도한 노출과 어두운 부분의 노이즈 증폭이라는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한계가 명확히 드러났다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이러한 문제를 해결하기 위해 국부적인 대비 개선 방식인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필요성을 시사한다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FACF44-1414-8E0A-3D58-9D94563EF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54" y="685802"/>
            <a:ext cx="4679999" cy="288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85AC79-9A7E-90F0-6AEB-687340C99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54" y="3565802"/>
            <a:ext cx="467999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50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4FAE-50F5-D3C4-C3CD-EE0F0B03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59559-22E5-82B0-6377-CAC4902D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655" y="2632364"/>
            <a:ext cx="7747345" cy="1336636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3. CLAHE </a:t>
            </a:r>
            <a:br>
              <a:rPr lang="en-US" altLang="ko-KR" sz="4000" dirty="0"/>
            </a:br>
            <a:r>
              <a:rPr lang="en-US" altLang="ko-KR" sz="2400" dirty="0"/>
              <a:t>(Contrast Limited Adaptive Histogram Equalization)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9956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2046-70B0-DBC7-0850-C20D0997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32D0A-582F-7DA5-4A41-80C5612B3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5" y="203358"/>
            <a:ext cx="2572327" cy="477983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3-1.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9D551-316E-1CC3-F86F-B9F30E2C7F99}"/>
              </a:ext>
            </a:extLst>
          </p:cNvPr>
          <p:cNvSpPr txBox="1"/>
          <p:nvPr/>
        </p:nvSpPr>
        <p:spPr>
          <a:xfrm>
            <a:off x="1390072" y="1997839"/>
            <a:ext cx="95827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(2-3)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확인한 바와 같이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평활화는 이미지 전체의 통계 정보를 활용하기 때문에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국부적으로 밝기 차이가 심한 이미지에서는 밝은 곳이 너무 밝아지거나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노이즈가 증폭되는 문제가 발생한다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이를 해결하기 위해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영상을 작은 격자 단위로 나누어 처리하는 </a:t>
            </a:r>
            <a:r>
              <a:rPr lang="ko-KR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적응형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(Adaptive)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대비가 과도하게 높아지는 것을 막는 </a:t>
            </a:r>
            <a:r>
              <a:rPr lang="ko-KR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대비 제한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(Contrast Limited)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기술을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결합한 알고리즘이다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4788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2046-70B0-DBC7-0850-C20D0997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32D0A-582F-7DA5-4A41-80C5612B3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5" y="203358"/>
            <a:ext cx="2572327" cy="477983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3-1.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9D551-316E-1CC3-F86F-B9F30E2C7F99}"/>
              </a:ext>
            </a:extLst>
          </p:cNvPr>
          <p:cNvSpPr txBox="1"/>
          <p:nvPr/>
        </p:nvSpPr>
        <p:spPr>
          <a:xfrm>
            <a:off x="1381124" y="897537"/>
            <a:ext cx="1014585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buAutoNum type="arabicParenBoth"/>
            </a:pPr>
            <a:r>
              <a:rPr lang="ko-KR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핵심 알고리즘 원리</a:t>
            </a:r>
            <a:endParaRPr lang="en-US" altLang="ko-KR" sz="1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AHE (Adaptive Histogram Equalization): </a:t>
            </a:r>
          </a:p>
          <a:p>
            <a:pPr latinLnBrk="1"/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이미지를 일정한 크기의 작은 블록인 타일로 나눠 평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화를 진행하는 방식이다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타일 내부에서 독립적으로 히스토그램 평활화를 수행하므로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영상 전체의 밝기에 영향을 받지 않고 국부적인 대비를 효과적으로 개선할 수 있다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Contrast Limiting: </a:t>
            </a:r>
          </a:p>
          <a:p>
            <a:pPr latinLnBrk="1"/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타일 안에 비슷한 밝기 값을 가진 픽셀이 너무 많으면 히스토그램 빈도가 급격히 높아지고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</a:t>
            </a:r>
            <a:r>
              <a:rPr lang="ko-KR" altLang="ko-KR" sz="1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평활화할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경우 노이즈가 심하게 증폭된다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CLAHE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히스토그램의 높이에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Clip Limit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설정하여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초과하는 부분은 깎아낸 뒤 전체 빈도에 골고루 재분배함으로써 노이즈 발생을 억제한다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Bilinear Interpolation (</a:t>
            </a:r>
            <a:r>
              <a:rPr lang="ko-KR" altLang="ko-KR" sz="17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쌍선형</a:t>
            </a:r>
            <a:r>
              <a:rPr lang="ko-KR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보간</a:t>
            </a:r>
            <a:r>
              <a:rPr lang="en-US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</a:p>
          <a:p>
            <a:pPr latinLnBrk="1"/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타일을 독립적으로 처리하면 타일 간의 경계면이 </a:t>
            </a:r>
            <a:r>
              <a:rPr lang="ko-KR" altLang="ko-KR" sz="1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불연속하게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보이는 격자 현상이 발생할 수 있다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CLAHE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인접한 타일 간의 결과를 이차원 </a:t>
            </a:r>
            <a:r>
              <a:rPr lang="ko-KR" altLang="ko-KR" sz="1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보간법으로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매끄럽게 연결하여 </a:t>
            </a:r>
            <a:endParaRPr lang="en-US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자연스러운 결과 영상을 생성한다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파라미터</a:t>
            </a:r>
            <a:endParaRPr lang="en-US" altLang="ko-KR" sz="1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Clip Limit: 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대비를 제한하는 </a:t>
            </a:r>
            <a:r>
              <a:rPr lang="ko-KR" altLang="ko-KR" sz="1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임계값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값이 높을수록 대비가 강해지지만 노이즈가 증가할 수 있다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Tile Grid Size: 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이미지를 나눌 격자의 크기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8x8). 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격자가 작을수록 더 세밀한 국부 대비 개선이 </a:t>
            </a:r>
            <a:endParaRPr lang="en-US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가능하지만 </a:t>
            </a:r>
            <a:r>
              <a:rPr lang="ko-KR" altLang="ko-KR" sz="1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연산량이</a:t>
            </a:r>
            <a:r>
              <a:rPr lang="ko-KR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늘어난다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9407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F7A7-1FDB-216F-468D-BAF4F06B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F75B71-7B5D-CF49-F501-5DD11E6A5321}"/>
              </a:ext>
            </a:extLst>
          </p:cNvPr>
          <p:cNvSpPr txBox="1"/>
          <p:nvPr/>
        </p:nvSpPr>
        <p:spPr>
          <a:xfrm>
            <a:off x="994055" y="0"/>
            <a:ext cx="33041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8F607-4A16-F157-BF38-A460CBDEEB18}"/>
              </a:ext>
            </a:extLst>
          </p:cNvPr>
          <p:cNvSpPr txBox="1"/>
          <p:nvPr/>
        </p:nvSpPr>
        <p:spPr>
          <a:xfrm>
            <a:off x="5655040" y="603667"/>
            <a:ext cx="64353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(1) CLAHE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 생성 및 파라미터 설정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0"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img_gray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cv2.imread(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image_path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cv2.IMREAD_GRAYSCALE):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코드에서와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같이 원본 이미지를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그레이스케일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이미지로 바꿔서 입력 이미지를 준비한다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cv2.createCLAHE(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clipLimit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=2.0, 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tileGridSize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=(8, 8)):</a:t>
            </a:r>
            <a:endParaRPr lang="ko-KR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cv2.equalizeHist()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처럼 직접 함수를 호출하는 대신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알고리즘에 필요한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하이퍼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파라미터를 세밀하게 제어하기 위해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객체를 먼저 생성한 뒤 이를 이미지에 적용하는 방식을 사용한다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clipLimit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=2.0: </a:t>
            </a: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Contrast Limiting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위한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임계값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히스토그램의 특정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Bin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전체의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2%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초과할 경우 이를 깎아내어 다른 구간에 재분배한다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값이 너무 높으면 노이즈가 증폭되고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너무 낮으면 대비 개선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효과가 미비해진다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tileGridSize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=(8, 8):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이미지를 나눌 격자의 크기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영상을 가로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8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8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64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타일로 분할하여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각각 평활화를 수행한다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격자 수가 많을수록 국부적인 디테일은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살아나지만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연산량이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증가한다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9FE75C-8C04-E729-D482-65B4D3626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4" y="685800"/>
            <a:ext cx="485064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F7A7-1FDB-216F-468D-BAF4F06B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F75B71-7B5D-CF49-F501-5DD11E6A5321}"/>
              </a:ext>
            </a:extLst>
          </p:cNvPr>
          <p:cNvSpPr txBox="1"/>
          <p:nvPr/>
        </p:nvSpPr>
        <p:spPr>
          <a:xfrm>
            <a:off x="994055" y="0"/>
            <a:ext cx="33041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8F607-4A16-F157-BF38-A460CBDEEB18}"/>
              </a:ext>
            </a:extLst>
          </p:cNvPr>
          <p:cNvSpPr txBox="1"/>
          <p:nvPr/>
        </p:nvSpPr>
        <p:spPr>
          <a:xfrm>
            <a:off x="5787768" y="1659285"/>
            <a:ext cx="61028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적용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clahe.apply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img_clahe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clahe.apply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img_gray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apply()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메서드를 통해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이미지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img_gray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알고리즘을 수행한다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과정에서 각 타일별 히스토그램 계산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Clip Limit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최종적으로 타일 간 경계를 매끄럽게 하는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Bilinear Interpolation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내부적으로 진행된다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시각화 및 데이터 처리</a:t>
            </a:r>
          </a:p>
          <a:p>
            <a:pPr latinLnBrk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평활화의 시각화 코드와 동일하다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plt.hist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ravel()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사용하여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2D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이미지를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1D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데이터로 변환 후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분포를 확인한다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9FE75C-8C04-E729-D482-65B4D3626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4" y="685800"/>
            <a:ext cx="485064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4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B58F-4F5E-FB23-1990-5125EC56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7E4FECF-F46F-89FB-DB30-7B026C3C3015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72DB64-CB4C-49C1-9720-BD401569E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912" y="680258"/>
            <a:ext cx="7722176" cy="617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76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FB4C7-77FE-51D6-5A1F-13C5B222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8853149-9F06-73C8-3C7B-6BDB18962A50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6C26D-3EB1-3A6D-944C-57C064AEA55B}"/>
              </a:ext>
            </a:extLst>
          </p:cNvPr>
          <p:cNvSpPr txBox="1"/>
          <p:nvPr/>
        </p:nvSpPr>
        <p:spPr>
          <a:xfrm>
            <a:off x="5580539" y="1536174"/>
            <a:ext cx="62235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buAutoNum type="arabicParenBoth"/>
            </a:pP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결과 분석 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Adaptive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방식을 통해 타일 단위로 나누어 처리하여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원본 영상에서 어두운 부분으로 치중되어 식별이 어려웠던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아치 내부의 자전거와 벽면 질감이 매우 선명하게 복원되었다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특히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결과에서는 아치 밖의 밝은 거리 풍경이 과다하게 노출되어 하얗게 변했던 반면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결과에서는 실외의 디테일과 색감이 원본의 느낌을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유지하면서 자연스럽게 보존되었다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clipLimit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=2.0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설정을 통해 대비가 과도하게 높아지는 것을 방지함으로써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 부분에서 발생할 수 있는 거친 노이즈 증폭 현상을 효과적으로 제어하였다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93402F7-9644-B6B2-A132-392DA39CC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12" y="685800"/>
            <a:ext cx="4680000" cy="292579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25A1CA0-4316-C6CE-547B-94A853056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12" y="3611592"/>
            <a:ext cx="4680000" cy="29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18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D2F08-96A7-C141-A108-1353168E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027C37F-96FC-800C-CEC0-B6B5CC40C19F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E79BA3-3E5A-279B-F6D7-6F36F96CEB0F}"/>
              </a:ext>
            </a:extLst>
          </p:cNvPr>
          <p:cNvSpPr txBox="1"/>
          <p:nvPr/>
        </p:nvSpPr>
        <p:spPr>
          <a:xfrm>
            <a:off x="5571305" y="834455"/>
            <a:ext cx="64636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분석 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평활화의 히스토그램이 전 영역에 걸쳐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강제로 평평하게 펼쳐진 것과 달리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히스토그램은 원본의 분포 특성을 어느 정도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유지하면서도 전체적인 다이내믹 레인지가 확장된 형태를 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밝기 값에 픽셀이 과도하게 쏠리지 않도록 재분배된 덕분에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히스토그램이 끊어지거나 급격한 피크를 형성하지 않고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부드럽게 분포되어 이미지의 명암 차이가 자연스럽게 표현되었다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이미지 전체의 밝기 균형을 깨뜨리지 않으면서도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필요한 부분의 디테일을 정교하게 살려낼 수 있는 효율적인 기법임을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특히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tileGridSize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clipLimit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 조절을 통해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의도에 맞는 최적의 영상 개선이 가능하다는 점이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큰 장점이다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717486-D246-AAEE-9A01-E08AC3DA102A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3157" y="685800"/>
            <a:ext cx="4680000" cy="288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653C88-B6AA-52B3-4725-F15A9DD2E90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3157" y="3565800"/>
            <a:ext cx="46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97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4FAE-50F5-D3C4-C3CD-EE0F0B03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59559-22E5-82B0-6377-CAC4902D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000" y="2889000"/>
            <a:ext cx="6480000" cy="1080000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4. </a:t>
            </a:r>
            <a:r>
              <a:rPr lang="ko-KR" altLang="ko-KR" sz="4400" dirty="0"/>
              <a:t>종합</a:t>
            </a:r>
            <a:br>
              <a:rPr lang="en-US" altLang="ko-KR" sz="4400" dirty="0"/>
            </a:br>
            <a:r>
              <a:rPr lang="en-US" altLang="ko-KR" sz="2400" dirty="0"/>
              <a:t>Comparative Analysis and Discussion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984546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D2F08-96A7-C141-A108-1353168E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027C37F-96FC-800C-CEC0-B6B5CC40C19F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5684405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기법별 비교 테이블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7BD8F51-0398-382E-6EAE-48781493C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108088"/>
              </p:ext>
            </p:extLst>
          </p:nvPr>
        </p:nvGraphicFramePr>
        <p:xfrm>
          <a:off x="1371601" y="687278"/>
          <a:ext cx="9712034" cy="5959579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317106">
                  <a:extLst>
                    <a:ext uri="{9D8B030D-6E8A-4147-A177-3AD203B41FA5}">
                      <a16:colId xmlns:a16="http://schemas.microsoft.com/office/drawing/2014/main" val="3833535845"/>
                    </a:ext>
                  </a:extLst>
                </a:gridCol>
                <a:gridCol w="2797690">
                  <a:extLst>
                    <a:ext uri="{9D8B030D-6E8A-4147-A177-3AD203B41FA5}">
                      <a16:colId xmlns:a16="http://schemas.microsoft.com/office/drawing/2014/main" val="1041939278"/>
                    </a:ext>
                  </a:extLst>
                </a:gridCol>
                <a:gridCol w="2798619">
                  <a:extLst>
                    <a:ext uri="{9D8B030D-6E8A-4147-A177-3AD203B41FA5}">
                      <a16:colId xmlns:a16="http://schemas.microsoft.com/office/drawing/2014/main" val="950441839"/>
                    </a:ext>
                  </a:extLst>
                </a:gridCol>
                <a:gridCol w="2798619">
                  <a:extLst>
                    <a:ext uri="{9D8B030D-6E8A-4147-A177-3AD203B41FA5}">
                      <a16:colId xmlns:a16="http://schemas.microsoft.com/office/drawing/2014/main" val="2826785792"/>
                    </a:ext>
                  </a:extLst>
                </a:gridCol>
              </a:tblGrid>
              <a:tr h="43069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구분</a:t>
                      </a:r>
                      <a:endParaRPr lang="ko-KR" sz="1600" kern="100" dirty="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HDR (Pseudo-HDR)</a:t>
                      </a:r>
                      <a:endParaRPr lang="ko-KR" sz="1600" kern="100" dirty="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Histogram Equalization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CLAHE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4148366170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주요 목적</a:t>
                      </a:r>
                      <a:endParaRPr lang="ko-KR" sz="1600" kern="100" dirty="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Dynamic Range </a:t>
                      </a: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확장 및 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디테일 복원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전역적인 대비 극대화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국부적 대비 개선 및 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노이즈 억제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3584611141"/>
                  </a:ext>
                </a:extLst>
              </a:tr>
              <a:tr h="30664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공간적 특성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전역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 + </a:t>
                      </a: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국부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전역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(Global)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국부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(Local)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9440829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연산 속도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상대적으로 느림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매우 빠름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보통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966983390"/>
                  </a:ext>
                </a:extLst>
              </a:tr>
              <a:tr h="89814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대비 개선 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정도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자연스러운 개선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매우 높음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보통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~</a:t>
                      </a: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높음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파라미터 튜닝을 통해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조절 가능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646314644"/>
                  </a:ext>
                </a:extLst>
              </a:tr>
              <a:tr h="89814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노이즈 증폭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매우 낮음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높음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어두운 부분의 노이즈가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두드러짐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낮음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(Clip Limit</a:t>
                      </a: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으로 제어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3655786206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장점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실내외 밝기 차 극복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자연스러움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구현이 간단하고 직관적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노이즈를 억제하며 </a:t>
                      </a:r>
                      <a:r>
                        <a:rPr lang="ko-KR" sz="1600" kern="100" dirty="0" err="1">
                          <a:solidFill>
                            <a:schemeClr val="tx1"/>
                          </a:solidFill>
                          <a:effectLst/>
                        </a:rPr>
                        <a:t>디테일하게</a:t>
                      </a: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 대비를 개선할 수 있음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840231324"/>
                  </a:ext>
                </a:extLst>
              </a:tr>
              <a:tr h="75996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단점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연산 복잡도 높음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단일 영상으로는 한계가 있음</a:t>
                      </a:r>
                      <a:endParaRPr lang="en-US" altLang="ko-KR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(Pseudo-HDR 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사용시 해결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밝은 영역이 날라가는 </a:t>
                      </a:r>
                      <a:endParaRPr lang="en-US" altLang="ko-KR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Highlight Clipping </a:t>
                      </a: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현상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노이즈 발생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해당 이미지의 적합한 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파라미터 튜닝이 필요함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1585284116"/>
                  </a:ext>
                </a:extLst>
              </a:tr>
              <a:tr h="89814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주요 적용 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effectLst/>
                        </a:rPr>
                        <a:t>대상</a:t>
                      </a:r>
                      <a:endParaRPr lang="ko-KR" sz="1600" kern="100">
                        <a:solidFill>
                          <a:srgbClr val="7B7B7B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실내외 노출 차가 큰 풍경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600" kern="100" dirty="0" err="1">
                          <a:solidFill>
                            <a:schemeClr val="tx1"/>
                          </a:solidFill>
                          <a:effectLst/>
                        </a:rPr>
                        <a:t>드론과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 자율주행 자동차의 </a:t>
                      </a:r>
                      <a:endParaRPr lang="en-US" altLang="ko-KR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이미지 센서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>
                          <a:solidFill>
                            <a:schemeClr val="tx1"/>
                          </a:solidFill>
                          <a:effectLst/>
                        </a:rPr>
                        <a:t>배경과 피사체가 구분되지 않는 저대비 영상</a:t>
                      </a:r>
                      <a:endParaRPr lang="ko-KR" sz="16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tc>
                  <a:txBody>
                    <a:bodyPr/>
                    <a:lstStyle/>
                    <a:p>
                      <a:pPr marL="508000" indent="-50800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의료영상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(X-ray), 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508000" indent="-50800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안개 낀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 CCTV </a:t>
                      </a: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등 </a:t>
                      </a:r>
                    </a:p>
                    <a:p>
                      <a:pPr marL="508000" indent="-50800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solidFill>
                            <a:schemeClr val="tx1"/>
                          </a:solidFill>
                          <a:effectLst/>
                        </a:rPr>
                        <a:t>국부적 디테일이 중요한 영상</a:t>
                      </a: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465" marR="64465" marT="0" marB="0" anchor="ctr"/>
                </a:tc>
                <a:extLst>
                  <a:ext uri="{0D108BD9-81ED-4DB2-BD59-A6C34878D82A}">
                    <a16:rowId xmlns:a16="http://schemas.microsoft.com/office/drawing/2014/main" val="3728091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866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4FAE-50F5-D3C4-C3CD-EE0F0B03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59559-22E5-82B0-6377-CAC4902D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000" y="2889000"/>
            <a:ext cx="6480000" cy="1080000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5. </a:t>
            </a:r>
            <a:r>
              <a:rPr lang="ko-KR" altLang="ko-KR" sz="4400" dirty="0"/>
              <a:t>추가 고찰 및 구현</a:t>
            </a:r>
            <a:r>
              <a:rPr lang="en-US" altLang="ko-KR" sz="4400" dirty="0"/>
              <a:t> </a:t>
            </a:r>
            <a:r>
              <a:rPr lang="en-US" altLang="ko-KR" sz="2400" dirty="0"/>
              <a:t>(Additional Discussion &amp; Implementation)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400487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2C40-0ACE-293A-51B0-52FA633D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2D7286-353D-B702-7C95-DD549341ED46}"/>
              </a:ext>
            </a:extLst>
          </p:cNvPr>
          <p:cNvSpPr txBox="1"/>
          <p:nvPr/>
        </p:nvSpPr>
        <p:spPr>
          <a:xfrm>
            <a:off x="994055" y="0"/>
            <a:ext cx="4136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5-1.Original HDR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3CAF6-6F08-A8AD-354E-7BD83B9DBCB3}"/>
              </a:ext>
            </a:extLst>
          </p:cNvPr>
          <p:cNvSpPr txBox="1"/>
          <p:nvPr/>
        </p:nvSpPr>
        <p:spPr>
          <a:xfrm>
            <a:off x="5848998" y="281985"/>
            <a:ext cx="5835002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en-US" altLang="ko-KR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가상의 노출을 만드는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Pseudo-HDR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달리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노출 시간을 달리하여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촬영한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장의 입력을 사용한다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각 사진이 가진 실제 조도 정보를 합치는 것이므로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단일 사진에서 복구할 수 없는 고조도 및 저조도의 디테일까지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복원할 수 있다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Alignment: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여러 장을 촬영할 때 발생하는 미세한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카메라 흔들림은 결과물의 고스트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현상을 유발한다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해결하기 위해 픽셀 단위의 정렬 알고리즘이 포함되어야 한다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 분석</a:t>
            </a: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Pseudo-HDR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코드에서 데이터 정밀도를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높이기 위해 추가된 핵심 로직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아래와 같다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cv2.resize() (</a:t>
            </a:r>
            <a:r>
              <a:rPr lang="ko-KR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강제 크기 맞춤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다중 노출 합성의 전제 조건은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모든 입력 영상의 행렬 크기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(M*N)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동일해야 한다는 것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로드된 이미지들 사이의 미세한 크기 차이로 인한 런타임 에러를 방지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cv2.createAlignMTB():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오리지널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HDR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핵심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MTB(Median Threshold Bitmap)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알고리즘을 사용하여 이미지들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사이의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shift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계산하고 정렬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통해 </a:t>
            </a:r>
            <a:r>
              <a:rPr lang="ko-KR" altLang="en-US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손떨림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등으로 인해 발생하는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장의 사진의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미세한 오차를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보정하여 합성이 겹쳐 보이는 현상을 막아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준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process(images, images):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정렬하여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리스트 내부에 덮어씌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과정을 거쳐야만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Mertens Fusion 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픽셀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위치가 정확히 일치하게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된</a:t>
            </a:r>
            <a:r>
              <a:rPr lang="ko-KR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이후 시각화 코드는 </a:t>
            </a:r>
            <a:r>
              <a:rPr lang="en-US" altLang="ko-KR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Pseudo_HDR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동일하다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802156-53D2-292D-8686-7E710D75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737"/>
            <a:ext cx="5315971" cy="509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08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8616-D397-CD4D-5CEC-3F399063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7BD7704-18C3-0C9C-2EB0-FE8F04CA2E86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6567EA-717A-EB05-FE90-21E66DB54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07" y="685801"/>
            <a:ext cx="9589939" cy="511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3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A723-2499-D4F6-9C9A-84FE13B3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C59E45D-6D97-7A1D-AFF3-067012EA8BD6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EE8F1-15DF-FBD1-B4CD-9344A7463EEB}"/>
              </a:ext>
            </a:extLst>
          </p:cNvPr>
          <p:cNvSpPr txBox="1"/>
          <p:nvPr/>
        </p:nvSpPr>
        <p:spPr>
          <a:xfrm>
            <a:off x="5602263" y="1166843"/>
            <a:ext cx="63311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위의 사진은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Pseudo-HDR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결과이고 아래 사진은 다중 노출 기반의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Original HDR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결과이다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Both"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디테일 및 선명도 비교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Pseudo-HDR: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장의 영상 데이터만을 사용하여 대비를 확장했기 때문에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 영역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아치 내부 벽면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질감을 살리는 과정에서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미세한 노이즈가 관찰되며 다소 평면적인 느낌을 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또한 가상의 감마 보정 영상을 합성했기 때문에 인위적인 대비 강조가 느껴질 수 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Original HDR: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물리적으로 노출 시간이 긴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Over-exposed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영상의 신호를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직접 활용하므로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 부분의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SNR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훨씬 우수하다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벽돌의 질감이나 바닥 타일의 모서리가 더 날카롭고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선명하게 표현되는 것을 확인할 수 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빛의 세기를 누적한 결과이므로 어두운 부분의 색감이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훨씬 풍부하고 자연스럽다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3D5E82-5C70-0827-BA90-D403D45C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91" y="3611575"/>
            <a:ext cx="4680000" cy="29152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09A024-B530-6415-7B9C-D9AE336E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91" y="685801"/>
            <a:ext cx="4680000" cy="292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78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A723-2499-D4F6-9C9A-84FE13B3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C59E45D-6D97-7A1D-AFF3-067012EA8BD6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EE8F1-15DF-FBD1-B4CD-9344A7463EEB}"/>
              </a:ext>
            </a:extLst>
          </p:cNvPr>
          <p:cNvSpPr txBox="1"/>
          <p:nvPr/>
        </p:nvSpPr>
        <p:spPr>
          <a:xfrm>
            <a:off x="5602263" y="1166843"/>
            <a:ext cx="63311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한계점 분석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고스트 현상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위쪽 영상은 단일 촬영이므로 움직이는 사람들의 형체가 선명하지만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Original HDR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촬영 간 시차로 인해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광장의 사람들이 흐릿하게 번져 보이는 고스트 현상이 발생했다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다중 노출 합성 방식이 가진 고유한 한계점이다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카메라 본체의 흔들림은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AlignMTB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알고리즘으로 보정할 수 있으나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프레임 내에서 개별적으로 움직이는 피사체의 위치 차이는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Mertens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융합 과정에서 잔상으로 남게 됨을 확인하였다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종합 평가 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정적인 풍경의 디테일 복원과 색감의 표현면에서는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Original HDR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압도적으로 우수하다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움직이는 피사체가 포함된 동적인 환경에서는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Pseudo-HDR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흐릿함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없는 결과물을 보장한다는 점에서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각각의 기법이 상보적인 장단점을 가짐을 실험을 통해 검증하였다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3D5E82-5C70-0827-BA90-D403D45C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91" y="3611575"/>
            <a:ext cx="4680000" cy="29152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09A024-B530-6415-7B9C-D9AE336E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91" y="685801"/>
            <a:ext cx="4680000" cy="292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46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0D4A5-499F-9EF9-AD63-22D3C598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3D627E-A532-4C02-EEE8-1D75E3817401}"/>
              </a:ext>
            </a:extLst>
          </p:cNvPr>
          <p:cNvSpPr txBox="1"/>
          <p:nvPr/>
        </p:nvSpPr>
        <p:spPr>
          <a:xfrm>
            <a:off x="994055" y="0"/>
            <a:ext cx="33185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5-2. Color HE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A49714-4AC2-B52F-D837-06BE9ECFFF0B}"/>
              </a:ext>
            </a:extLst>
          </p:cNvPr>
          <p:cNvSpPr txBox="1"/>
          <p:nvPr/>
        </p:nvSpPr>
        <p:spPr>
          <a:xfrm>
            <a:off x="5848998" y="78788"/>
            <a:ext cx="599202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RGB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공간에서 각 채널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(R, G, B)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개별적으로 히스토그램 평활화를 적용하면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 채널 사이의 색상 비율이 깨지게 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따라서 결과 영상에서 원래 없던 색이 나타나는 색상 왜곡현상이 발생한다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해결하기 위해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이용한다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인간의 눈이 색상보다 밝기에 훨씬 민감하다는 특성을 이용해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영상 데이터를 휘도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(Y)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색상정보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(Cr,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Cb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분리하여 표현하는 방식이다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RGB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색 공간을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색 공간으로 변환하여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휘도 성분인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채널에만 평활화를 수행하여 다시 합치는 것으로 컬러 공간에서의 히스토그램 평활화를 수행할 수 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 분석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흑백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HE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코드에서 색 공간 제어를 위해 추가된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코드이다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img_ycrcb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cv2.cvtColor(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img_bgr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cv2.COLOR_BGR2YCrCb) </a:t>
            </a:r>
          </a:p>
          <a:p>
            <a:pPr latinLnBrk="1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y,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cr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cb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cv2.split(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img_ycrcb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</a:p>
          <a:p>
            <a:pPr latinLnBrk="1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라이브러리를 사용해서 색공간을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RGB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변경하고 각각 분리한다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s-E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y_eq = cv2.equalizeHist(y):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분리한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Y, Cr,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Cb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색공간에서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채널에만 히스토그램 평활화를 수행한다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img_ycrcb_eq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cv2.merge((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y_eq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cr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cb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)) </a:t>
            </a:r>
          </a:p>
          <a:p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img_bgr_eq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cv2.cvtColor(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img_ycrcb_eq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cv2.COLOR_YCrCb2BGR):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평활화를 진행한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Cr,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Cb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채널을 합치고 다시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RGB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색공간으로 되돌려서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시각화한다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BAFAA4-CC51-03D3-BC02-F891CEE7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181"/>
            <a:ext cx="5314723" cy="575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93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80CFF-FFF6-6CE1-A0AD-88A12D22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D26B80D-A70E-C9F2-C22A-A560DE31FD77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4A3B6B-EF33-4C3B-FD5D-57A61C7AE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6" y="685800"/>
            <a:ext cx="7715248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62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4E69-AB49-991A-BA54-03B91BA4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D11442C-7C02-61B1-9591-D77926685B76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F6D4A-39D2-88CE-25E6-234743513DD5}"/>
              </a:ext>
            </a:extLst>
          </p:cNvPr>
          <p:cNvSpPr txBox="1"/>
          <p:nvPr/>
        </p:nvSpPr>
        <p:spPr>
          <a:xfrm>
            <a:off x="5602263" y="306551"/>
            <a:ext cx="633111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위의 사진은 흑백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결과이고 아래 사진은 컬러 히스토그램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결과이다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latinLnBrk="1">
              <a:buAutoNum type="arabicParenBoth"/>
            </a:pPr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시각적 품질 및 색상 보존 분석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흑백 히스토그램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영상의 명암 구조를 파악하는 데는 탁월하지만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화분의 꽃의 색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건물의 색과 같은 색감 정보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없다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컬러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latinLnBrk="1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채널의 평활화를 통해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흑백 히스토그램 평활화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가진 디테일 복원 능력을 그대로 유지하면서도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Cr,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Cb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채널의 색상 정보를 보존하여 영상의 정보 밀도를 비약적으로 높였다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RGB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채널을 직접 처리하지 않고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휘도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(Y)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성분만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평활화했기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때문에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이미지에서 하늘의 푸른색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화분의 꽃 등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원본 고유의 색감이 변하지 않고 색상 무결성이 유지되었다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Y-</a:t>
            </a:r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 히스토그램 분석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히스토그램은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히스토그램 평활화의 결과와 거의 동일한 모습을 보인다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주로 낮은 밝기 값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(0~100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밀집되어 어두웠던 히스토그램의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픽셀 빈도가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0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255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전체 영역으로 골고루 확산되었다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히스토그램의 분포가 균일해짐에 따라 영상의 다이내믹 레인지가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넓어졌음을 수치적으로 확인할 수 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한계점 고찰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전역 히스토그램 평활화의 특성상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어두운 부분을 밝게 만드는 과정에서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 충분히 밝았던 배경이 과다 노출되어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Highlight Clipping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현상이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발생하였다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또한 어두웠던 부분의 노이즈가 함께 증폭되는 현상이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여전히 존재한다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FE721D-9CC0-E9CE-6041-5A4C49B1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95" y="685800"/>
            <a:ext cx="4680000" cy="29914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145F556-D9CC-4EC0-E4C8-B7C1A1FF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95" y="3677215"/>
            <a:ext cx="4680000" cy="299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94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F011-A545-2262-B45B-C573D930E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D41C79-FA21-250C-C546-4F486B2C04ED}"/>
              </a:ext>
            </a:extLst>
          </p:cNvPr>
          <p:cNvSpPr txBox="1"/>
          <p:nvPr/>
        </p:nvSpPr>
        <p:spPr>
          <a:xfrm>
            <a:off x="569184" y="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5-3. Color CLAHE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AE7B7-7E6B-4549-75FA-199056578E0A}"/>
              </a:ext>
            </a:extLst>
          </p:cNvPr>
          <p:cNvSpPr txBox="1"/>
          <p:nvPr/>
        </p:nvSpPr>
        <p:spPr>
          <a:xfrm>
            <a:off x="5812054" y="688392"/>
            <a:ext cx="599202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컬러 히스토그램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평활화에서는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연산의 효율성을 위해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공간을 사용하였다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전역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평활화는 이미지 전체의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통계를 바탕으로 하기에 구조가 단순한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로도 충분한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효과를 볼 수 있기 때문이다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 국부적 대비를 개선하는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경우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타일 단위로 독립적인 연산이 수행되므로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공간에서는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타일 간 밝기 변화의 불연속성이 두드러질 위험이 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해결하기 위해 컬러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구현에서는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Lab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공간을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Lab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공간은 인간의 시각 인지 방식을 모방한 수학적 모델로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(L)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성분과 색상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(a, b)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성분이 완전히 분리되어 설계되었다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특히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채널이 갖는 지각적 균일성은 수치적 변화가 인간이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느끼는 실제 밝기 변화와 정비례함을 의미한다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따라서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Lab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공간에서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수행할 경우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작은 타일들의 대비를 개별적으로 올리더라도 타일 간 이질감 없이 일관된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밝기 개선 결과물을 얻을 수 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23E540-35FC-36B9-9E9F-F140848E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889"/>
            <a:ext cx="5310909" cy="466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34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F011-A545-2262-B45B-C573D930E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6AE7B7-7E6B-4549-75FA-199056578E0A}"/>
              </a:ext>
            </a:extLst>
          </p:cNvPr>
          <p:cNvSpPr txBox="1"/>
          <p:nvPr/>
        </p:nvSpPr>
        <p:spPr>
          <a:xfrm>
            <a:off x="5848998" y="728261"/>
            <a:ext cx="599202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 분석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흑백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코드에서 색 공간 제어를 위해 추가된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코드이다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img_lab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cv2.cvtColor(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img_bgr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cv2.COLOR_BGR2Lab) </a:t>
            </a:r>
          </a:p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l, a, b = cv2.split(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img_lab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):</a:t>
            </a: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Cv2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라이브러리를 사용해서 색공간을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RGB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Lab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변경하고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각각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a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b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채널로 분리한다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cv2.createCLAHE(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clipLimit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=2.0, 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tileGridSize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=(8, 8)):</a:t>
            </a:r>
          </a:p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흑백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코드와 마찬가지로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객체를 미리 생성해주고 파라미터를 입력해준다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l_clahe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clahe.apply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(l)</a:t>
            </a:r>
          </a:p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분리한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L, a, b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색공간에서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채널에만 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수행한다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img_lab_clahe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cv2.merge((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l_clahe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a, b)) </a:t>
            </a:r>
          </a:p>
          <a:p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img_bgr_clahe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cv2.cvtColor(</a:t>
            </a:r>
            <a:r>
              <a:rPr lang="en-US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img_lab_clahe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cv2.COLOR_Lab2BGR): </a:t>
            </a:r>
          </a:p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평활화를 진행한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채널과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a, b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채널을 합치고 다시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RGB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색공간으로 되돌려서 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시각화한다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시각화 코드는 기존 흑백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같다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23E540-35FC-36B9-9E9F-F140848E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889"/>
            <a:ext cx="5310909" cy="4664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5FB1B4-86FF-61E8-8D99-98AFF0C52DCF}"/>
              </a:ext>
            </a:extLst>
          </p:cNvPr>
          <p:cNvSpPr txBox="1"/>
          <p:nvPr/>
        </p:nvSpPr>
        <p:spPr>
          <a:xfrm>
            <a:off x="569184" y="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5-3. Color CLAHE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8317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03D6-F5FE-D4D9-99A6-FA62817B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83B6207-2AD2-557B-8B82-78447BDBC3CC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B69404-2AC8-070C-16C1-A941D75D4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912" y="680258"/>
            <a:ext cx="7722177" cy="617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27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E455F-E325-DD6C-6884-A291E593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23F0DC7-423C-DEB4-CC38-FF237C68A9EB}"/>
              </a:ext>
            </a:extLst>
          </p:cNvPr>
          <p:cNvSpPr txBox="1">
            <a:spLocks/>
          </p:cNvSpPr>
          <p:nvPr/>
        </p:nvSpPr>
        <p:spPr>
          <a:xfrm>
            <a:off x="1390650" y="76201"/>
            <a:ext cx="2572327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5-3.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ko-KR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D9293D-F1EE-1E63-F688-3F26E5030059}"/>
              </a:ext>
            </a:extLst>
          </p:cNvPr>
          <p:cNvSpPr txBox="1"/>
          <p:nvPr/>
        </p:nvSpPr>
        <p:spPr>
          <a:xfrm>
            <a:off x="5602263" y="258902"/>
            <a:ext cx="6331119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위의 사진은 흑백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결과이고 아래 사진은 컬러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결과이다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latinLnBrk="1">
              <a:buAutoNum type="arabicParenBoth"/>
            </a:pPr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시각적 품질 분석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CLAHE: </a:t>
            </a: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색상이 제거되어 명암 분포와 질감 표현에 더 집중하게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된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오래된 건축물의 벽돌 질감이나 돌바닥의 무늬 등이 더 두드러져 보이며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형태 중심적인 분석에 유리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컬러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CLAHE: </a:t>
            </a:r>
          </a:p>
          <a:p>
            <a:pPr latinLnBrk="1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Lab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공간을 활용하여 색상 정보를 왜곡 없이 보존했기 때문에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원본의 색감이 잘 보존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컬러 히스토그램 </a:t>
            </a:r>
            <a:r>
              <a:rPr lang="ko-KR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결과에서 발생했던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아치 너머 밝은 광장의 과다한 노출이 거의 관찰되지 않아서 하늘의 파란색과 광장의 위치한 건물의 색감을 잘 보존하였다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L-</a:t>
            </a:r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 히스토그램 분석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마찬가지로 흑백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결과와 거의 동일한 모습을 보인다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주로 낮은 밝기 값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(0~100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밀집되어 어두웠던 히스토그램의 픽셀 빈도를 국부적인 특징을 유지하며 중간 밝기 영역으로 재분배하여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255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전체 영역으로 골고루 확산되었다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결과적으로 특정 밝기 값에 포화되지 않으면서도 다이내믹 레인지가 효율적으로 확장되었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결론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Lab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 공간에서의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 </a:t>
            </a:r>
            <a:r>
              <a:rPr lang="ko-KR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적용은 인간의 시각 인지와 유사한 지각적 균일성을 기반으로 국부 대비를 개선함으로써 컬러 히스토그램 평활화의 한계였던 밝은 영역의 날림 현상과 노이즈 증폭을 효과적으로 억제하였다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FAE437-0302-27D4-0989-CABB8AA8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30" y="3625116"/>
            <a:ext cx="4680000" cy="29471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277C80B-0843-56A6-0E9B-6DE1B66C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30" y="685801"/>
            <a:ext cx="4680000" cy="293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82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64F0-1F94-72D7-628A-483E7386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38425-1733-AF9A-F696-F7831AD71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000" y="2889000"/>
            <a:ext cx="6480000" cy="1080000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6. </a:t>
            </a:r>
            <a:r>
              <a:rPr lang="ko-KR" altLang="en-US" sz="4400" dirty="0"/>
              <a:t>결론</a:t>
            </a:r>
            <a:r>
              <a:rPr lang="en-US" altLang="ko-KR" sz="4400" dirty="0"/>
              <a:t> </a:t>
            </a:r>
            <a:br>
              <a:rPr lang="en-US" altLang="ko-KR" sz="4400" dirty="0"/>
            </a:br>
            <a:r>
              <a:rPr lang="en-US" altLang="ko-KR" sz="2400" dirty="0"/>
              <a:t>(Conclusion)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01433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33227F-728C-4D2A-6779-BE93C73C2EB1}"/>
              </a:ext>
            </a:extLst>
          </p:cNvPr>
          <p:cNvSpPr txBox="1"/>
          <p:nvPr/>
        </p:nvSpPr>
        <p:spPr>
          <a:xfrm>
            <a:off x="1111142" y="481638"/>
            <a:ext cx="938628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buAutoNum type="arabicParenBoth"/>
            </a:pPr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 결과 요약 및 기법별 분석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HDR </a:t>
            </a:r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단일 영상 기반의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Pseudo-HDR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실시간성과 안정성에서 강점을 보이며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다중 노출 기반의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Original HDR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물리적 신호 확보를 통한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SNR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색감의 표현력 면에서 강점을 보이지만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다중 촬영 사이의 시차로 인한 고스트 현상이 발생할 수 있음을 보였다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히스토그램 </a:t>
            </a:r>
            <a:r>
              <a:rPr lang="ko-KR" altLang="ko-KR" sz="1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연산 속도가 매우 빠르나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전체 통계만을 사용하므로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Highlight Clipping </a:t>
            </a: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노이즈 증폭의 한계가 명확함을 확인하였다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CLAHE: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영상을 타일 단위로 처리하는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Adaptive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방식을 통해 국부적인 디테일을 효과적으로 복원하면서도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Clip Limit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설정을 통해 인위적인 왜곡을 억제하는 균형 잡힌 성능을 보여주었다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컬러 공간 분리의 공학적 필연성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컬러 영상 처리 시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RGB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채널을 직접 조작하는 것은 색상 비율의 파괴로 인한 왜곡을 초래한다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전역 처리가 핵심인 히스토그램 </a:t>
            </a:r>
            <a:r>
              <a:rPr lang="ko-KR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평활화에서는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연산 효율이 좋은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YCrCb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공간을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국부적이고 정밀한 보정이 필요한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CLAHE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에서는 인간의 시각 인지와 유사한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Lab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공간을 사용하는 것이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지각적 </a:t>
            </a:r>
            <a:r>
              <a:rPr lang="ko-KR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균일성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측면에서 최적의 선택임을 실험을 통해 검증하였다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 및 고찰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본 프로젝트를 통해 각 알고리즘의 수학적 모델이 실제 영상 신호에 미치는 영향을 깊이 있게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이해할 수 있었다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향후에는 움직이는 피사체가 포함된 환경에서도 잔상 없는 복원이 가능한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CNN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기반의 단일 이미지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HDR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복원 기술이나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조도 환경에 따라 최적의 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clipLimit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결정하는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SAC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기반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 </a:t>
            </a: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 튜닝 알고리즘에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/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대한 연구가 추가로 필요할 것으로 보인다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7178199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1004</TotalTime>
  <Words>4131</Words>
  <Application>Microsoft Office PowerPoint</Application>
  <PresentationFormat>와이드스크린</PresentationFormat>
  <Paragraphs>597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맑은 고딕</vt:lpstr>
      <vt:lpstr>Cambria Math</vt:lpstr>
      <vt:lpstr>Franklin Gothic Book</vt:lpstr>
      <vt:lpstr>자르기</vt:lpstr>
      <vt:lpstr>영상 신호 처리  중간 대체 레포트</vt:lpstr>
      <vt:lpstr>목차</vt:lpstr>
      <vt:lpstr> 1. HDR  (High Dynamic Range)</vt:lpstr>
      <vt:lpstr>1-1. 개요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히스토그램 평활화  (Histogram Equalization)</vt:lpstr>
      <vt:lpstr>2-1. 개요 </vt:lpstr>
      <vt:lpstr>PowerPoint 프레젠테이션</vt:lpstr>
      <vt:lpstr>PowerPoint 프레젠테이션</vt:lpstr>
      <vt:lpstr>PowerPoint 프레젠테이션</vt:lpstr>
      <vt:lpstr>PowerPoint 프레젠테이션</vt:lpstr>
      <vt:lpstr>3. CLAHE  (Contrast Limited Adaptive Histogram Equalization)</vt:lpstr>
      <vt:lpstr>3-1. 개요 </vt:lpstr>
      <vt:lpstr>3-1. 개요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종합 Comparative Analysis and Discussion</vt:lpstr>
      <vt:lpstr>PowerPoint 프레젠테이션</vt:lpstr>
      <vt:lpstr>5. 추가 고찰 및 구현 (Additional Discussion &amp; Implementation)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6. 결론  (Conclusion)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윤동환</dc:creator>
  <cp:lastModifiedBy>윤동환</cp:lastModifiedBy>
  <cp:revision>35</cp:revision>
  <dcterms:created xsi:type="dcterms:W3CDTF">2026-04-15T04:35:58Z</dcterms:created>
  <dcterms:modified xsi:type="dcterms:W3CDTF">2026-04-16T08:37:06Z</dcterms:modified>
</cp:coreProperties>
</file>